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47"/>
          </a:solidFill>
          <a:ln w="12700">
            <a:solidFill>
              <a:srgbClr val="1230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1143000"/>
            <a:ext cx="8778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FE7E7"/>
                </a:solidFill>
              </a:rPr>
              <a:t>Task 2 · REFUGE 眼底图像分割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58368" y="169164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代码完成度检查与问题回答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94944" y="257860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9E8EE"/>
                </a:solidFill>
              </a:rPr>
              <a:t>基于当前仓库：src/task2_segmentation.py 与 src/results 输出图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94944" y="4160520"/>
            <a:ext cx="2743200" cy="530352"/>
          </a:xfrm>
          <a:prstGeom prst="roundRect">
            <a:avLst>
              <a:gd name="adj" fmla="val 10345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431596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结论：主体完成，2.4 需补调参对比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Completion Check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4739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REFUGE Segmentation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当前代码是否覆盖 Task 2.1-2.4？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对照课程 PDF 的四个分割任务要求，给出可交付性判断。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572768"/>
            <a:ext cx="1463040" cy="530352"/>
          </a:xfrm>
          <a:prstGeom prst="rect">
            <a:avLst/>
          </a:prstGeom>
          <a:solidFill>
            <a:srgbClr val="E7F5F5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9164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任务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148840" y="1572768"/>
            <a:ext cx="1554480" cy="530352"/>
          </a:xfrm>
          <a:prstGeom prst="rect">
            <a:avLst/>
          </a:prstGeom>
          <a:solidFill>
            <a:srgbClr val="E7F5F5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169164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状态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840480" y="1572768"/>
            <a:ext cx="5212080" cy="530352"/>
          </a:xfrm>
          <a:prstGeom prst="rect">
            <a:avLst/>
          </a:prstGeom>
          <a:solidFill>
            <a:srgbClr val="E7F5F5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169164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已完成内容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9235440" y="1572768"/>
            <a:ext cx="2286000" cy="530352"/>
          </a:xfrm>
          <a:prstGeom prst="rect">
            <a:avLst/>
          </a:prstGeom>
          <a:solidFill>
            <a:srgbClr val="E7F5F5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08592" y="169164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主要缺口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66928" y="2139696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258568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Task 2.1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2148840" y="2139696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21992" y="2258568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基本完成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3840480" y="2139696"/>
            <a:ext cx="5212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3632" y="2258568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实现 REFUGEDataset；读取 image/mask；提供 visualize_sample；训练中使用 transform 加载数据。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9235440" y="2139696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8592" y="2258568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需要在汇报中展示样例图并解释视盘/视杯。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566928" y="2706624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825496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Task 2.2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2148840" y="2706624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21992" y="2825496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基本完成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3840480" y="2706624"/>
            <a:ext cx="5212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3632" y="2825496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选择 U-Net；实现 DoubleConv、下采样、上采样和跳跃连接。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9235440" y="2706624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08592" y="282549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需要补充主流分割网络调研与选择理由。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566928" y="3273552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39242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Task 2.3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2148840" y="3273552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21992" y="3392424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D99A2B"/>
                </a:solidFill>
              </a:rPr>
              <a:t>部分完成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3840480" y="3273552"/>
            <a:ext cx="5212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3392424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实现 BCE、Dice、Combined Loss；计算 IoU/Dice；保存 loss 与预测图。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9235440" y="3273552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08592" y="339242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课程要求分别对比 Dice、CE、Combined，目前只看到 combined 的运行入口。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566928" y="3840480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395935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Task 2.4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2148840" y="3840480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221992" y="395935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D99A2B"/>
                </a:solidFill>
              </a:rPr>
              <a:t>部分完成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3840480" y="3840480"/>
            <a:ext cx="5212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13632" y="3959352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train_model 暴露 batch_size、lr、epochs、loss_type 等参数。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9235440" y="384048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308592" y="395935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缺少多组参数实验、训练时长、收敛速度和原因分析。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621792" y="4791456"/>
            <a:ext cx="10972800" cy="777240"/>
          </a:xfrm>
          <a:prstGeom prst="roundRect">
            <a:avLst>
              <a:gd name="adj" fmla="val 4706"/>
            </a:avLst>
          </a:prstGeom>
          <a:solidFill>
            <a:srgbClr val="FFF8EA"/>
          </a:solidFill>
          <a:ln w="12700">
            <a:solidFill>
              <a:srgbClr val="E8C46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1248" y="5010912"/>
            <a:ext cx="10469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3"/>
                </a:solidFill>
              </a:rPr>
              <a:t>建议：如果要严格满足评分点，至少补 3 组 loss 对比和 2-3 组参数对比；这份 PPT 已把“当前完成”和“还需补充”分开说明。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2.1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4739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REFUGE Segmentation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2.1：认识 REFUGE 数据集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问题：如何加载数据、展示 image/label，并说明视盘与视杯？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417320"/>
            <a:ext cx="3520440" cy="425196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17320"/>
            <a:ext cx="73152" cy="4251960"/>
          </a:xfrm>
          <a:prstGeom prst="rect">
            <a:avLst/>
          </a:prstGeom>
          <a:solidFill>
            <a:srgbClr val="3A9D5D"/>
          </a:solidFill>
          <a:ln w="12700">
            <a:solidFill>
              <a:srgbClr val="3A9D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5819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代码回答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86384" y="1920240"/>
            <a:ext cx="3172968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REFUGEDataset 继承 torch.utils.data.Dataset。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image 使用 RGB 读取，mask 使用灰度图读取。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通过 Resize + ToTensor 完成输入预处理。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visualize_sample 可展示原图与 mask。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370832" y="1417320"/>
            <a:ext cx="3520440" cy="425196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417320"/>
            <a:ext cx="73152" cy="425196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158191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图像区域说明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90288" y="1920240"/>
            <a:ext cx="3172968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视盘：眼底图中偏亮、近圆形的区域，是视神经进入眼球的位置。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视杯：位于视盘内部，通常更亮或由 mask 中另一灰度区域表示。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分割目标：让模型逐像素判断哪些位置属于目标区域。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174736" y="1417320"/>
            <a:ext cx="3429000" cy="425196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74736" y="1417320"/>
            <a:ext cx="73152" cy="425196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94192" y="158191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完成度判断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94192" y="1920240"/>
            <a:ext cx="3081528" cy="3611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代码层面已完成数据加载主体。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报告层面需要放入样例原图与标签图。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若 mask 命名不是 jpg -&gt; bmp，同名匹配逻辑需按实际数据修改。</a:t>
            </a:r>
            <a:endParaRPr lang="en-US" sz="9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2.2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4739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REFUGE Segmentation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2.2：网络调研与基座模型选择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问题：主流分割网络有哪些？为什么选择 U-Net？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2697480" cy="4434840"/>
          </a:xfrm>
          <a:prstGeom prst="roundRect">
            <a:avLst>
              <a:gd name="adj" fmla="val 135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73152" cy="443484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58191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主流架构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" y="1920240"/>
            <a:ext cx="2350008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FCN：全卷积像素级预测。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U-Net：编码器-解码器 + 跳跃连接。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SegNet：编码器-解码器，使用池化索引上采样。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DeepLab：空洞卷积与 ASPP 获取多尺度上下文。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Transformer 系列：更强全局建模。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566160" y="1417320"/>
            <a:ext cx="3611880" cy="4434840"/>
          </a:xfrm>
          <a:prstGeom prst="roundRect">
            <a:avLst>
              <a:gd name="adj" fmla="val 101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417320"/>
            <a:ext cx="73152" cy="4434840"/>
          </a:xfrm>
          <a:prstGeom prst="rect">
            <a:avLst/>
          </a:prstGeom>
          <a:solidFill>
            <a:srgbClr val="3A9D5D"/>
          </a:solidFill>
          <a:ln w="12700">
            <a:solidFill>
              <a:srgbClr val="3A9D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85616" y="1581912"/>
            <a:ext cx="3264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选择 U-Net 的理由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785616" y="1920240"/>
            <a:ext cx="3264408" cy="3794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医学图像样本量通常有限，U-Net 对小数据集更友好。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跳跃连接保留边缘和空间细节，适合视盘/视杯边界分割。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结构清晰、训练成本低，便于完成 loss 与参数对比实验。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当前代码已实现轻量 U-Net。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7635240" y="1417320"/>
            <a:ext cx="3520440" cy="443484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16459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47"/>
                </a:solidFill>
              </a:rPr>
              <a:t>当前 U-Net 结构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321040" y="2212848"/>
            <a:ext cx="1143000" cy="320040"/>
          </a:xfrm>
          <a:prstGeom prst="roundRect">
            <a:avLst>
              <a:gd name="adj" fmla="val 11429"/>
            </a:avLst>
          </a:prstGeom>
          <a:solidFill>
            <a:srgbClr val="EEF4F7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57616" y="2295144"/>
            <a:ext cx="1069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Input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8321040" y="2788920"/>
            <a:ext cx="1143000" cy="320040"/>
          </a:xfrm>
          <a:prstGeom prst="roundRect">
            <a:avLst>
              <a:gd name="adj" fmla="val 11429"/>
            </a:avLst>
          </a:prstGeom>
          <a:solidFill>
            <a:srgbClr val="EEF4F7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2871216"/>
            <a:ext cx="1069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Down 64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8321040" y="3364992"/>
            <a:ext cx="1143000" cy="320040"/>
          </a:xfrm>
          <a:prstGeom prst="roundRect">
            <a:avLst>
              <a:gd name="adj" fmla="val 11429"/>
            </a:avLst>
          </a:prstGeom>
          <a:solidFill>
            <a:srgbClr val="EEF4F7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57616" y="3447288"/>
            <a:ext cx="1069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Down 128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8101584" y="3941064"/>
            <a:ext cx="1417320" cy="320040"/>
          </a:xfrm>
          <a:prstGeom prst="roundRect">
            <a:avLst>
              <a:gd name="adj" fmla="val 11429"/>
            </a:avLst>
          </a:prstGeom>
          <a:solidFill>
            <a:srgbClr val="E9F6F2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38160" y="4023360"/>
            <a:ext cx="1344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Bottleneck 256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321040" y="4517136"/>
            <a:ext cx="1143000" cy="320040"/>
          </a:xfrm>
          <a:prstGeom prst="roundRect">
            <a:avLst>
              <a:gd name="adj" fmla="val 11429"/>
            </a:avLst>
          </a:prstGeom>
          <a:solidFill>
            <a:srgbClr val="EEF4F7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7616" y="4599432"/>
            <a:ext cx="1069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Up 128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8321040" y="5093208"/>
            <a:ext cx="1143000" cy="320040"/>
          </a:xfrm>
          <a:prstGeom prst="roundRect">
            <a:avLst>
              <a:gd name="adj" fmla="val 11429"/>
            </a:avLst>
          </a:prstGeom>
          <a:solidFill>
            <a:srgbClr val="EEF4F7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57616" y="5175504"/>
            <a:ext cx="10698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F2933"/>
                </a:solidFill>
              </a:rPr>
              <a:t>Up 64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9802368" y="3328416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F8B8D"/>
                </a:solidFill>
              </a:rPr>
              <a:t>skip connections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2.3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4739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REFUGE Segmentation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2.3：分割任务特有问题与代码实现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问题：分割与分类有什么不同？Logits、损失和指标如何设计？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417320"/>
            <a:ext cx="3474720" cy="438912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17320"/>
            <a:ext cx="73152" cy="438912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5819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与分类任务的区别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" y="1920240"/>
            <a:ext cx="3127248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分类输出通常是 [B, C]，每张图一个类别。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分割输出是 [B, C, H, W]，每个像素都有预测。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需要保留空间结构，因此上采样、跳跃连接很重要。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评价更关注区域重叠，而不是单个类别准确率。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343400" y="1417320"/>
            <a:ext cx="3474720" cy="438912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417320"/>
            <a:ext cx="73152" cy="4389120"/>
          </a:xfrm>
          <a:prstGeom prst="rect">
            <a:avLst/>
          </a:prstGeom>
          <a:solidFill>
            <a:srgbClr val="3A9D5D"/>
          </a:solidFill>
          <a:ln w="12700">
            <a:solidFill>
              <a:srgbClr val="3A9D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2856" y="15819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当前代码实现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62856" y="1920240"/>
            <a:ext cx="3127248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out_channels=1，适合二值分割。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BCEWithLogitsLoss 直接接收 logits。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DiceLoss 优化预测区域与标注区域的重叠。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CombinedLoss = 0.5*BCE + 0.5*Dice。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calculate_metrics 返回 IoU 与 Dice。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092440" y="1417320"/>
            <a:ext cx="3474720" cy="438912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417320"/>
            <a:ext cx="73152" cy="438912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11896" y="1581912"/>
            <a:ext cx="3127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仍需补强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11896" y="1920240"/>
            <a:ext cx="3127248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课程要求分别实验 Dice、CE、Combined。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当前入口使用 loss_type='combined'。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建议重复训练三次并保存三条 loss 曲线。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报告中说明 Combined 通常兼顾像素级稳定性和区域重叠。</a:t>
            </a:r>
            <a:endParaRPr lang="en-US" sz="9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2.3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4739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REFUGE Segmentation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损失函数对比：应该如何回答课程问题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这里给出 PPT 可直接使用的分析口径；实际分数最好再补实验数据。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66928" y="1508760"/>
            <a:ext cx="1463040" cy="530352"/>
          </a:xfrm>
          <a:prstGeom prst="rect">
            <a:avLst/>
          </a:prstGeom>
          <a:solidFill>
            <a:srgbClr val="E7F5F5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276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Loss</a:t>
            </a:r>
            <a:endParaRPr lang="en-US" sz="870" dirty="0"/>
          </a:p>
        </p:txBody>
      </p:sp>
      <p:sp>
        <p:nvSpPr>
          <p:cNvPr id="9" name="Shape 7"/>
          <p:cNvSpPr/>
          <p:nvPr/>
        </p:nvSpPr>
        <p:spPr>
          <a:xfrm>
            <a:off x="2148840" y="1508760"/>
            <a:ext cx="1554480" cy="530352"/>
          </a:xfrm>
          <a:prstGeom prst="rect">
            <a:avLst/>
          </a:prstGeom>
          <a:solidFill>
            <a:srgbClr val="E7F5F5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162763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优化目标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840480" y="1508760"/>
            <a:ext cx="5212080" cy="530352"/>
          </a:xfrm>
          <a:prstGeom prst="rect">
            <a:avLst/>
          </a:prstGeom>
          <a:solidFill>
            <a:srgbClr val="E7F5F5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13632" y="1627632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优点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9235440" y="1508760"/>
            <a:ext cx="2286000" cy="530352"/>
          </a:xfrm>
          <a:prstGeom prst="rect">
            <a:avLst/>
          </a:prstGeom>
          <a:solidFill>
            <a:srgbClr val="E7F5F5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08592" y="162763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可能问题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566928" y="2084832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203704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BCE/CE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2148840" y="2084832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21992" y="2203704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逐像素分类正确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3840480" y="2084832"/>
            <a:ext cx="5212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13632" y="2203704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训练稳定；适合二值像素预测；对每个像素都有梯度。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9235440" y="2084832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308592" y="220370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目标区域较小时容易被背景像素主导。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566928" y="2651760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770632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Dice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2148840" y="2651760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21992" y="277063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区域重叠最大化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3840480" y="2651760"/>
            <a:ext cx="5212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13632" y="2770632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更贴合分割评价指标；对类别不平衡更友好。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9235440" y="2651760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308592" y="277063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早期训练可能不如 BCE 稳定。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566928" y="3218688"/>
            <a:ext cx="14630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337560"/>
            <a:ext cx="1316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Combined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2148840" y="3218688"/>
            <a:ext cx="15544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21992" y="3337560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1F2933"/>
                </a:solidFill>
              </a:rPr>
              <a:t>像素正确 + 区域重叠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3840480" y="3218688"/>
            <a:ext cx="5212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3337560"/>
            <a:ext cx="5065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兼顾稳定收敛与重叠质量，是医学分割常用选择。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9235440" y="3218688"/>
            <a:ext cx="22860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08592" y="333756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1F2933"/>
                </a:solidFill>
              </a:rPr>
              <a:t>需要调 BCE 与 Dice 权重。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594360" y="4343400"/>
            <a:ext cx="10972800" cy="960120"/>
          </a:xfrm>
          <a:prstGeom prst="roundRect">
            <a:avLst>
              <a:gd name="adj" fmla="val 3810"/>
            </a:avLst>
          </a:prstGeom>
          <a:solidFill>
            <a:srgbClr val="EEF7F6"/>
          </a:solidFill>
          <a:ln w="12700">
            <a:solidFill>
              <a:srgbClr val="B7D9D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22960" y="4645152"/>
            <a:ext cx="10469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当前代码状态：Dice、BCE、Combined 都已写好，并可通过 loss_type 选择；但目前主程序只跑 combined，因此“实验对比”还没有完全闭环。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2.4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4739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REFUGE Segmentation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Task 2.4：模型参数调整与优化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问题：哪些参数可调？不同参数如何影响训练时长、Loss 曲线与收敛？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3429000" cy="452628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25880"/>
            <a:ext cx="73152" cy="4526280"/>
          </a:xfrm>
          <a:prstGeom prst="rect">
            <a:avLst/>
          </a:prstGeom>
          <a:solidFill>
            <a:srgbClr val="3A9D5D"/>
          </a:solidFill>
          <a:ln w="12700">
            <a:solidFill>
              <a:srgbClr val="3A9D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49047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代码中已有可调参数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" y="1828800"/>
            <a:ext cx="3081528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learning rate：lr=1e-3。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batch size：batch_size=4。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epochs：当前入口为 10。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loss_type：ce / dice / combined。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image size：Resize((256, 256))。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optimizer：Adam。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429000" cy="452628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325880"/>
            <a:ext cx="73152" cy="45262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49047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参数影响解释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17136" y="1828800"/>
            <a:ext cx="3081528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学习率过大：loss 震荡甚至发散；过小：收敛慢。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batch size 较大：训练更平稳但显存占用高。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epochs 增加：可能提升收敛，但过多会过拟合。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图像尺寸更大：边界更细，但训练更慢。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优化器/调度器会影响收敛速度。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001000" y="1325880"/>
            <a:ext cx="3520440" cy="452628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325880"/>
            <a:ext cx="73152" cy="452628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0456" y="149047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完成度判断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0456" y="1828800"/>
            <a:ext cx="3172968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目前代码有参数入口。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但缺少参数对比实验记录。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建议补：lr=1e-2/1e-3/1e-4；batch=2/4/8。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记录：训练时间、最终 IoU/Dice、loss 曲线。</a:t>
            </a:r>
            <a:endParaRPr lang="en-US" sz="9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4739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REFUGE Segmentation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已有训练结果展示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来自当前仓库 src/results 的输出图片。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4983480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361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Loss 曲线</a:t>
            </a:r>
            <a:endParaRPr lang="en-US" sz="1200" dirty="0"/>
          </a:p>
        </p:txBody>
      </p:sp>
      <p:pic>
        <p:nvPicPr>
          <p:cNvPr id="9" name="Image 0" descr="K:\桌面\数据统计\project\src\results\loss_curve_20260509_12292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74520"/>
            <a:ext cx="4434840" cy="31546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897880" y="1325880"/>
            <a:ext cx="5669280" cy="4297680"/>
          </a:xfrm>
          <a:prstGeom prst="roundRect">
            <a:avLst>
              <a:gd name="adj" fmla="val 85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144768" y="1536192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预测可视化：原图 / GT / Prediction</a:t>
            </a:r>
            <a:endParaRPr lang="en-US" sz="1200" dirty="0"/>
          </a:p>
        </p:txBody>
      </p:sp>
      <p:pic>
        <p:nvPicPr>
          <p:cNvPr id="12" name="Image 1" descr="K:\桌面\数据统计\project\src\results\prediction_20260509_12292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874520"/>
            <a:ext cx="5120640" cy="34015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5800" y="587044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</a:rPr>
              <a:t>说明：该结果能支撑 Task 2.3 的可视化展示，但如果要严格满足“不同 loss/参数对比”，还需要生成多组结果图。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4739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REFUGE Segmentation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建议补做的最小实验清单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用最少工作量把 Task 2.3 和 Task 2.4 补成完整闭环。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94360" y="1325880"/>
            <a:ext cx="3429000" cy="452628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25880"/>
            <a:ext cx="73152" cy="45262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49047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Loss 对比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" y="1828800"/>
            <a:ext cx="3081528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固定 lr=1e-3、batch=4、epochs=10。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分别运行 loss_type='ce'。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运行 loss_type='dice'。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运行 loss_type='combined'。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比较最终 IoU/Dice 和 loss 曲线。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297680" y="1325880"/>
            <a:ext cx="3429000" cy="4526280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1325880"/>
            <a:ext cx="73152" cy="4526280"/>
          </a:xfrm>
          <a:prstGeom prst="rect">
            <a:avLst/>
          </a:prstGeom>
          <a:solidFill>
            <a:srgbClr val="3A9D5D"/>
          </a:solidFill>
          <a:ln w="12700">
            <a:solidFill>
              <a:srgbClr val="3A9D5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17136" y="1490472"/>
            <a:ext cx="3081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参数对比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17136" y="1828800"/>
            <a:ext cx="3081528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固定 combined loss。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对比 lr=1e-2、1e-3、1e-4。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对比 batch_size=2、4、8。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记录训练时长与收敛速度。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说明显存、稳定性、过拟合风险。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8001000" y="1325880"/>
            <a:ext cx="3520440" cy="452628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0" y="1325880"/>
            <a:ext cx="73152" cy="4526280"/>
          </a:xfrm>
          <a:prstGeom prst="rect">
            <a:avLst/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0456" y="1490472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23047"/>
                </a:solidFill>
              </a:rPr>
              <a:t>代码小修建议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0456" y="1828800"/>
            <a:ext cx="3172968" cy="3886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r>
              <a:rPr lang="en-US" sz="920" dirty="0">
                <a:solidFill>
                  <a:srgbClr val="1F2933"/>
                </a:solidFill>
              </a:rPr>
              <a:t>把中文注释和路径乱码修复为 UTF-8。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把硬编码 K 盘路径改成相对路径或 argparse 参数。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保存每次实验的 metrics.csv。</a:t>
            </a:r>
            <a:endParaRPr lang="en-US" sz="920" dirty="0"/>
          </a:p>
          <a:p>
            <a:r>
              <a:rPr lang="en-US" sz="920" dirty="0">
                <a:solidFill>
                  <a:srgbClr val="1F2933"/>
                </a:solidFill>
              </a:rPr>
              <a:t>把 show_results 的 save_dir 固定到 src/results。</a:t>
            </a:r>
            <a:endParaRPr lang="en-US" sz="9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19456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0" y="647395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REFUGE Segmentation Project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02920" y="475488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04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最终结论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30352" y="1042416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616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面向提交：当前代码能作为 Task 2 主体，但还应补实验对比。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31520" y="1508760"/>
            <a:ext cx="10698480" cy="960120"/>
          </a:xfrm>
          <a:prstGeom prst="roundRect">
            <a:avLst>
              <a:gd name="adj" fmla="val 3810"/>
            </a:avLst>
          </a:prstGeom>
          <a:solidFill>
            <a:srgbClr val="EAF6F2"/>
          </a:solidFill>
          <a:ln w="12700">
            <a:solidFill>
              <a:srgbClr val="B9DCC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56232"/>
            <a:ext cx="10149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3047"/>
                </a:solidFill>
              </a:rPr>
              <a:t>代码层面：Task 2.1-2.3 的主体功能已经具备；Task 2.4 有参数接口但缺少实验记录。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10424160" cy="2331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2.1：数据集加载与 image/mask 展示逻辑已实现，需要在报告中明确解释视盘和视杯。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2.2：U-Net 已实现，PPT 中补充了网络调研与选择理由。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2.3：loss 和指标已实现，但建议补三组 loss 对比实验。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2.4：参数可调，但建议补学习率、batch size 等对比结果。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提交前最好修复代码中的中文乱码与硬编码路径，提高队友复现成功率。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60120" y="562356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3A9D5D"/>
          </a:solidFill>
          <a:ln w="12700">
            <a:solidFill>
              <a:srgbClr val="3A9D5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568756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可提交主体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514600" y="5623560"/>
            <a:ext cx="1371600" cy="310896"/>
          </a:xfrm>
          <a:prstGeom prst="roundRect">
            <a:avLst>
              <a:gd name="adj" fmla="val 17647"/>
            </a:avLst>
          </a:prstGeom>
          <a:solidFill>
            <a:srgbClr val="D99A2B"/>
          </a:solidFill>
          <a:ln w="12700">
            <a:solidFill>
              <a:srgbClr val="D99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568756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需补实验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69080" y="5623560"/>
            <a:ext cx="1508760" cy="310896"/>
          </a:xfrm>
          <a:prstGeom prst="roundRect">
            <a:avLst>
              <a:gd name="adj" fmla="val 17647"/>
            </a:avLst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0" y="568756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数据集不上传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Course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REFUGE 眼底图像分割 Task 2 汇报</dc:title>
  <dc:subject>Task 2 Segmentation Report</dc:subject>
  <dc:creator>Codex</dc:creator>
  <cp:lastModifiedBy>Codex</cp:lastModifiedBy>
  <cp:revision>1</cp:revision>
  <dcterms:created xsi:type="dcterms:W3CDTF">2026-05-20T06:40:12Z</dcterms:created>
  <dcterms:modified xsi:type="dcterms:W3CDTF">2026-05-20T06:40:12Z</dcterms:modified>
</cp:coreProperties>
</file>